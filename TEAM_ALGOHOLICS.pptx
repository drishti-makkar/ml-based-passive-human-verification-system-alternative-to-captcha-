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733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6C5CE7">
              <a:alpha val="12000"/>
            </a:srgbClr>
          </a:solidFill>
          <a:ln w="12700">
            <a:solidFill>
              <a:srgbClr val="6C5CE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82880"/>
            <a:ext cx="1280160" cy="1280160"/>
          </a:xfrm>
          <a:prstGeom prst="ellipse">
            <a:avLst/>
          </a:prstGeom>
          <a:solidFill>
            <a:srgbClr val="00D2FF">
              <a:alpha val="10000"/>
            </a:srgbClr>
          </a:solidFill>
          <a:ln w="12700">
            <a:solidFill>
              <a:srgbClr val="00D2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3474720"/>
            <a:ext cx="2926080" cy="2926080"/>
          </a:xfrm>
          <a:prstGeom prst="ellipse">
            <a:avLst/>
          </a:prstGeom>
          <a:solidFill>
            <a:srgbClr val="6C5CE7">
              <a:alpha val="7000"/>
            </a:srgbClr>
          </a:solidFill>
          <a:ln w="12700">
            <a:solidFill>
              <a:srgbClr val="6C5CE7">
                <a:alpha val="12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572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8686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ML-Based Passive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D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Verification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invisible verification system that distinguishes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from bots using behavioral intelligence.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13632"/>
            <a:ext cx="3200400" cy="0"/>
          </a:xfrm>
          <a:prstGeom prst="line">
            <a:avLst/>
          </a:prstGeom>
          <a:noFill/>
          <a:ln w="1905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2FF"/>
                </a:solidFill>
              </a:rPr>
              <a:t>Team Members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 Chauhan  ·  Drishti Makkar  ·  Anushka Karwa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2651760"/>
            <a:ext cx="2286000" cy="685800"/>
          </a:xfrm>
          <a:prstGeom prst="rect">
            <a:avLst/>
          </a:prstGeom>
          <a:solidFill>
            <a:srgbClr val="6C5CE7">
              <a:alpha val="20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Alternative 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83680" y="29443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CAPTCHA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50D2E"/>
          </a:solidFill>
          <a:ln w="12700">
            <a:solidFill>
              <a:srgbClr val="150D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C4899">
              <a:alpha val="25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EC4899"/>
                </a:solidFill>
              </a:rPr>
              <a:t>PROBLEM STATEMENT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CAPTCHA is Failing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754880" cy="749808"/>
          </a:xfrm>
          <a:prstGeom prst="rect">
            <a:avLst/>
          </a:prstGeom>
          <a:solidFill>
            <a:srgbClr val="1C1035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61872"/>
            <a:ext cx="54864" cy="7498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426464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264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4899"/>
                </a:solidFill>
              </a:rPr>
              <a:t>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353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Interrupts Users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16093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Breaks flow during login,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onboarding &amp; transactions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139696"/>
            <a:ext cx="4754880" cy="749808"/>
          </a:xfrm>
          <a:prstGeom prst="rect">
            <a:avLst/>
          </a:prstGeom>
          <a:solidFill>
            <a:srgbClr val="1C1035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139696"/>
            <a:ext cx="54864" cy="7498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04288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4899"/>
                </a:solidFill>
              </a:rPr>
              <a:t>✗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2311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Bots Solve CAPTCHA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248716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AI tools bypass modern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CAPTCHA with 95%+ 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4754880" cy="749808"/>
          </a:xfrm>
          <a:prstGeom prst="rect">
            <a:avLst/>
          </a:prstGeom>
          <a:solidFill>
            <a:srgbClr val="1C1035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017520"/>
            <a:ext cx="54864" cy="7498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82112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82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4899"/>
                </a:solidFill>
              </a:rPr>
              <a:t>✗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1089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Frustration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3649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High drop-off rates 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CAPTCHA-protected pages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95344"/>
            <a:ext cx="4754880" cy="749808"/>
          </a:xfrm>
          <a:prstGeom prst="rect">
            <a:avLst/>
          </a:prstGeom>
          <a:solidFill>
            <a:srgbClr val="1C1035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95344"/>
            <a:ext cx="54864" cy="74980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59936"/>
            <a:ext cx="411480" cy="411480"/>
          </a:xfrm>
          <a:prstGeom prst="ellipse">
            <a:avLst/>
          </a:prstGeom>
          <a:solidFill>
            <a:srgbClr val="EC4899">
              <a:alpha val="30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059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C4899"/>
                </a:solidFill>
              </a:rPr>
              <a:t>✗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9867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Enterprise Scale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24281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Can't handle millions of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requests seamlessly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69280" y="56692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Impact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577840" y="1051560"/>
            <a:ext cx="320040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23560" y="11430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5623560" y="162763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of users abandon a site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after CAPTCHA failure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313432"/>
            <a:ext cx="320040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40487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3400" dirty="0"/>
          </a:p>
        </p:txBody>
      </p:sp>
      <p:sp>
        <p:nvSpPr>
          <p:cNvPr id="37" name="Text 35"/>
          <p:cNvSpPr/>
          <p:nvPr/>
        </p:nvSpPr>
        <p:spPr>
          <a:xfrm>
            <a:off x="5623560" y="28895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more bot traffic since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AI-based CAPTCHA solvers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77840" y="3575304"/>
            <a:ext cx="3200400" cy="105156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366674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$5B+</a:t>
            </a:r>
            <a:endParaRPr lang="en-US" sz="3400" dirty="0"/>
          </a:p>
        </p:txBody>
      </p:sp>
      <p:sp>
        <p:nvSpPr>
          <p:cNvPr id="40" name="Text 38"/>
          <p:cNvSpPr/>
          <p:nvPr/>
        </p:nvSpPr>
        <p:spPr>
          <a:xfrm>
            <a:off x="5623560" y="415137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annual losses from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bot-driven fraud globally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6C5CE7">
              <a:alpha val="18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Enterprises need seamless, invisible verification — without ever interrupting the real user.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6C5CE7">
              <a:alpha val="25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6C5CE7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System Works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1417320" cy="82296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188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Browser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16642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Sends signals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0" y="1508760"/>
            <a:ext cx="256032" cy="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2808" y="1453896"/>
            <a:ext cx="109728" cy="10972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097280"/>
            <a:ext cx="1417320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01952" y="1188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Collector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01952" y="16642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Captures behavior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19272" y="1508760"/>
            <a:ext cx="256032" cy="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453896"/>
            <a:ext cx="109728" cy="10972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75304" y="1097280"/>
            <a:ext cx="14173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75304" y="1188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75304" y="16642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ML features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92624" y="1508760"/>
            <a:ext cx="256032" cy="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9512" y="1453896"/>
            <a:ext cx="109728" cy="10972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48656" y="1097280"/>
            <a:ext cx="14173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48656" y="1188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ML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16642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Classifies traffic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65976" y="1508760"/>
            <a:ext cx="256032" cy="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12864" y="1453896"/>
            <a:ext cx="109728" cy="109728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22008" y="1097280"/>
            <a:ext cx="1417320" cy="8229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22008" y="118872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Decision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22008" y="1664208"/>
            <a:ext cx="1417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Confidence score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630668" y="1920240"/>
            <a:ext cx="0" cy="320040"/>
          </a:xfrm>
          <a:prstGeom prst="line">
            <a:avLst/>
          </a:prstGeom>
          <a:noFill/>
          <a:ln w="25400">
            <a:solidFill>
              <a:srgbClr val="6C5CE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24728" y="2240280"/>
            <a:ext cx="3319267" cy="64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1" name="Text 29"/>
          <p:cNvSpPr/>
          <p:nvPr/>
        </p:nvSpPr>
        <p:spPr>
          <a:xfrm>
            <a:off x="5824728" y="22402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2FF"/>
                </a:solidFill>
              </a:rPr>
              <a:t>Enterprise API Gateway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824728" y="258775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Protects enterprise services &amp; enforces decisions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3246120"/>
            <a:ext cx="16642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246120"/>
            <a:ext cx="1664208" cy="54864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5584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Frontend Collector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0040" y="37033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Captures mouse paths, keystroke timing, scroll behavior, device fingerprint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20824" y="3246120"/>
            <a:ext cx="16642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020824" y="3246120"/>
            <a:ext cx="1664208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12264" y="335584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Feature Processor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112264" y="37033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Converts raw events to statistical ML features — velocity, entropy, dwell time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13048" y="3246120"/>
            <a:ext cx="16642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813048" y="3246120"/>
            <a:ext cx="166420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04488" y="335584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ML Engine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904488" y="37033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Ensemble of GBT, LSTM, and Isolation Forest classifies bot vs human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605272" y="3246120"/>
            <a:ext cx="16642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605272" y="3246120"/>
            <a:ext cx="1664208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96712" y="335584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Decision Engine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96712" y="37033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Produces 0–1 confidence score → Pass / Challenge / Block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7397496" y="3246120"/>
            <a:ext cx="1664208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397496" y="3246120"/>
            <a:ext cx="1664208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88936" y="3355848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</a:rPr>
              <a:t>Privacy Layer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88936" y="3703320"/>
            <a:ext cx="14813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</a:rPr>
              <a:t>No keystrokes stored. Only timing metadata. GDPR-compliant design.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</a:rPr>
              <a:t>3 / 6</a:t>
            </a:r>
            <a:endParaRPr lang="en-US" sz="9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0543F7C5-DE7C-FC38-CC88-E956B00B7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93776"/>
            <a:ext cx="9143994" cy="46497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891B2"/>
                </a:solidFill>
              </a:rPr>
              <a:t>PROPOSED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Verification Signals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92608" y="1078992"/>
            <a:ext cx="2697480" cy="438912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7899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Environmental Signals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2608" y="1517904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02336" y="1664208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591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Browser fingerprint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" y="2011680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Operating system type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" y="2359152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Screen resolution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2336" y="2706624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Device characteristics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02336" y="3054096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980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Time zone &amp; language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02336" y="3401568"/>
            <a:ext cx="146304" cy="14630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GPU &amp; audio context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54680" y="1078992"/>
            <a:ext cx="269748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107899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Behavioral Signals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154680" y="1517904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64408" y="166420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83864" y="1591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Mouse movement paths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2011680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83864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Cursor speed &amp; curves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2359152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83864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Typing rhythm &amp; dwell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64408" y="2706624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3864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Scroll depth &amp; speed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64408" y="3054096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83864" y="2980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Click timing patterns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64408" y="3401568"/>
            <a:ext cx="146304" cy="14630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83864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Micro-pause detection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16752" y="1078992"/>
            <a:ext cx="26974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16752" y="1078992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 Signals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16752" y="1517904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166420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1591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Request timing patterns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26480" y="201168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API call frequency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235915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2286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IP reputation check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270662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26334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Proxy / VPN detection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126480" y="30540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45936" y="2980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Session duration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126480" y="340156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45936" y="33284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Request rate anomalies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2608" y="3977640"/>
            <a:ext cx="8558784" cy="822960"/>
          </a:xfrm>
          <a:prstGeom prst="rect">
            <a:avLst/>
          </a:prstGeom>
          <a:solidFill>
            <a:srgbClr val="0F172A"/>
          </a:solidFill>
          <a:ln w="19050">
            <a:solidFill>
              <a:srgbClr val="6C5CE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92608" y="3977640"/>
            <a:ext cx="73152" cy="82296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2920" y="40416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2FF"/>
                </a:solidFill>
              </a:rPr>
              <a:t>ML Classification Engine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" y="43616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Random Forest  ·  Gradient Boosting  ·  LSTM  ·  Isolation Forest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577840" y="4041648"/>
            <a:ext cx="960120" cy="658368"/>
          </a:xfrm>
          <a:prstGeom prst="rect">
            <a:avLst/>
          </a:prstGeom>
          <a:solidFill>
            <a:srgbClr val="10B981">
              <a:alpha val="15000"/>
            </a:srgbClr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577840" y="405993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0B981"/>
                </a:solidFill>
              </a:rPr>
              <a:t>≥ 0.85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577840" y="4325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</a:rPr>
              <a:t>PASS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647688" y="4041648"/>
            <a:ext cx="960120" cy="658368"/>
          </a:xfrm>
          <a:prstGeom prst="rect">
            <a:avLst/>
          </a:prstGeom>
          <a:solidFill>
            <a:srgbClr val="F59E0B">
              <a:alpha val="15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47688" y="405993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</a:rPr>
              <a:t>0.55–0.84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647688" y="4325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CHALLENGE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717536" y="4041648"/>
            <a:ext cx="960120" cy="658368"/>
          </a:xfrm>
          <a:prstGeom prst="rect">
            <a:avLst/>
          </a:prstGeom>
          <a:solidFill>
            <a:srgbClr val="EF4444">
              <a:alpha val="15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717536" y="4059936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F4444"/>
                </a:solidFill>
              </a:rPr>
              <a:t>&lt; 0.55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717536" y="4325112"/>
            <a:ext cx="960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</a:rPr>
              <a:t>BLOCK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46320" y="4261104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Human Confidence Score →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0000"/>
                </a:solidFill>
              </a:rPr>
              <a:t>4 / 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0B981"/>
                </a:solidFill>
              </a:rPr>
              <a:t>IMPACTFUL IDEAS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This Different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2743200" cy="1664208"/>
          </a:xfrm>
          <a:prstGeom prst="rect">
            <a:avLst/>
          </a:prstGeom>
          <a:solidFill>
            <a:srgbClr val="161B2E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15568"/>
            <a:ext cx="2743200" cy="457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243584"/>
            <a:ext cx="347472" cy="347472"/>
          </a:xfrm>
          <a:prstGeom prst="ellipse">
            <a:avLst/>
          </a:prstGeom>
          <a:solidFill>
            <a:srgbClr val="6C5CE7">
              <a:alpha val="28000"/>
            </a:srgbClr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C5CE7"/>
                </a:solidFill>
              </a:rPr>
              <a:t>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Behavioral Biometrics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682496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Captures natural human interaction patterns — mouse curvature, keystroke rhythm, micro-pauses — invisible to users, impossible for bots to fake.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743200" cy="1664208"/>
          </a:xfrm>
          <a:prstGeom prst="rect">
            <a:avLst/>
          </a:prstGeom>
          <a:solidFill>
            <a:srgbClr val="161B2E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115568"/>
            <a:ext cx="2743200" cy="4572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28416" y="1243584"/>
            <a:ext cx="347472" cy="347472"/>
          </a:xfrm>
          <a:prstGeom prst="ellipse">
            <a:avLst/>
          </a:prstGeom>
          <a:solidFill>
            <a:srgbClr val="00D2FF">
              <a:alpha val="28000"/>
            </a:srgbClr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2FF"/>
                </a:solidFill>
              </a:rPr>
              <a:t>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67328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Invisible Verification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28416" y="1682496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Real users are never interrupted. The system makes decisions silently in the background. Zero friction — zero CAPTCHA popups.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0" y="1115568"/>
            <a:ext cx="2743200" cy="1664208"/>
          </a:xfrm>
          <a:prstGeom prst="rect">
            <a:avLst/>
          </a:prstGeom>
          <a:solidFill>
            <a:srgbClr val="16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115568"/>
            <a:ext cx="27432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1243584"/>
            <a:ext cx="347472" cy="347472"/>
          </a:xfrm>
          <a:prstGeom prst="ellipse">
            <a:avLst/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2435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59E0B"/>
                </a:solidFill>
              </a:rPr>
              <a:t>✦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93408" y="12344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Adaptive Risk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54496" y="1682496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Increases monitoring intensity during sensitive actions such as login or payment. Low-risk pages get lighter analysis.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463040" y="3017520"/>
            <a:ext cx="2926080" cy="1664208"/>
          </a:xfrm>
          <a:prstGeom prst="rect">
            <a:avLst/>
          </a:prstGeom>
          <a:solidFill>
            <a:srgbClr val="161B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63040" y="3017520"/>
            <a:ext cx="292608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91056" y="3145536"/>
            <a:ext cx="347472" cy="347472"/>
          </a:xfrm>
          <a:prstGeom prst="ellipse">
            <a:avLst/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91056" y="3145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</a:rPr>
              <a:t>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29968" y="31363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Continuous Learning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91056" y="3584448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Retrains weekly using new labeled session data. Adapts to evolving bot attack patterns automatically without manual tuning.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2926080" cy="1664208"/>
          </a:xfrm>
          <a:prstGeom prst="rect">
            <a:avLst/>
          </a:prstGeom>
          <a:solidFill>
            <a:srgbClr val="161B2E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017520"/>
            <a:ext cx="2926080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82896" y="3145536"/>
            <a:ext cx="347472" cy="347472"/>
          </a:xfrm>
          <a:prstGeom prst="ellipse">
            <a:avLst/>
          </a:prstGeom>
          <a:solidFill>
            <a:srgbClr val="EC4899">
              <a:alpha val="28000"/>
            </a:srgbClr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314553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C4899"/>
                </a:solidFill>
              </a:rPr>
              <a:t>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21808" y="313639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Fraud Detection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82896" y="3584448"/>
            <a:ext cx="2670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Detects credential stuffing, fake account creation, and scraping bots. Protects APIs, login endpoints, and transaction flows.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59E0B"/>
                </a:solidFill>
              </a:rPr>
              <a:t>SCALABILITY &amp; 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937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Enterprise Scale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59E0B"/>
                </a:solidFill>
              </a:rPr>
              <a:t>SCALABILITY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3931920" cy="713232"/>
          </a:xfrm>
          <a:prstGeom prst="rect">
            <a:avLst/>
          </a:prstGeom>
          <a:solidFill>
            <a:srgbClr val="1824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26464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591056"/>
            <a:ext cx="384048" cy="38404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910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14996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Cloud-Native Microservices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7552" y="175564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Each module deploys independently. ML inference separated from API gateway.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3931920" cy="713232"/>
          </a:xfrm>
          <a:prstGeom prst="rect">
            <a:avLst/>
          </a:prstGeom>
          <a:solidFill>
            <a:srgbClr val="1824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267712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432304"/>
            <a:ext cx="384048" cy="38404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32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7552" y="2340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Docker + Kubernetes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7552" y="25968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Containerized deployment. Auto-scales to demand. Zero-downtime rollouts.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108960"/>
            <a:ext cx="3931920" cy="713232"/>
          </a:xfrm>
          <a:prstGeom prst="rect">
            <a:avLst/>
          </a:prstGeom>
          <a:solidFill>
            <a:srgbClr val="1824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108960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273552"/>
            <a:ext cx="384048" cy="38404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2735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31821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Real-Time REST APIs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7552" y="343814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Sub-10ms inference. Handles burst traffic with horizontal pod scaling.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3931920" cy="713232"/>
          </a:xfrm>
          <a:prstGeom prst="rect">
            <a:avLst/>
          </a:prstGeom>
          <a:solidFill>
            <a:srgbClr val="1824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950208"/>
            <a:ext cx="54864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114800"/>
            <a:ext cx="384048" cy="384048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59E0B"/>
                </a:solidFill>
              </a:rPr>
              <a:t>∞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87552" y="40233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Millions of Requests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87552" y="427939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Stateless design enables linear scaling. Tested at 10,000 req/sec.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17720" y="1005840"/>
            <a:ext cx="0" cy="397764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0789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D2FF"/>
                </a:solidFill>
              </a:rPr>
              <a:t>ENTERPRISE IMPACT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1426464"/>
            <a:ext cx="1810512" cy="1536192"/>
          </a:xfrm>
          <a:prstGeom prst="rect">
            <a:avLst/>
          </a:prstGeom>
          <a:solidFill>
            <a:srgbClr val="18243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1426464"/>
            <a:ext cx="1810512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609344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4800600" y="2249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User Experience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73752" y="254203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users never see a challenge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812280" y="1426464"/>
            <a:ext cx="1810512" cy="1536192"/>
          </a:xfrm>
          <a:prstGeom prst="rect">
            <a:avLst/>
          </a:prstGeom>
          <a:solidFill>
            <a:srgbClr val="18243A"/>
          </a:solidFill>
          <a:ln w="10160">
            <a:solidFill>
              <a:srgbClr val="6C5CE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812280" y="1426464"/>
            <a:ext cx="1810512" cy="4572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1609344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5CE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&lt;1%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6812280" y="2249424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Bot Prevention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885432" y="2542032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false positive rate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00600" y="3145536"/>
            <a:ext cx="1810512" cy="1536192"/>
          </a:xfrm>
          <a:prstGeom prst="rect">
            <a:avLst/>
          </a:prstGeom>
          <a:solidFill>
            <a:srgbClr val="18243A"/>
          </a:solidFill>
          <a:ln w="10160">
            <a:solidFill>
              <a:srgbClr val="00D2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3145536"/>
            <a:ext cx="1810512" cy="45720"/>
          </a:xfrm>
          <a:prstGeom prst="rect">
            <a:avLst/>
          </a:prstGeom>
          <a:solidFill>
            <a:srgbClr val="00D2FF"/>
          </a:solidFill>
          <a:ln w="12700">
            <a:solidFill>
              <a:srgbClr val="00D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328416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2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10ms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4800600" y="396849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API Protection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73752" y="426110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average decision latency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812280" y="3145536"/>
            <a:ext cx="1810512" cy="1536192"/>
          </a:xfrm>
          <a:prstGeom prst="rect">
            <a:avLst/>
          </a:prstGeom>
          <a:solidFill>
            <a:srgbClr val="18243A"/>
          </a:solidFill>
          <a:ln w="10160">
            <a:solidFill>
              <a:srgbClr val="EC48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812280" y="3145536"/>
            <a:ext cx="1810512" cy="45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12280" y="3328416"/>
            <a:ext cx="1810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40%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6812280" y="3968496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Digital Trust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885432" y="4261104"/>
            <a:ext cx="16642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</a:rPr>
              <a:t>reduction in fraud attempts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7731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BotGuard · ML-Based Passive Human Verification · Built for Enterprise  ·  Zero CAPTCHA. Full Protection.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592</Words>
  <Application>Microsoft Office PowerPoint</Application>
  <PresentationFormat>On-screen Show (16:9)</PresentationFormat>
  <Paragraphs>156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ML-Based Passive Human Verification System</dc:title>
  <dc:subject>PptxGenJS Presentation</dc:subject>
  <dc:creator>PptxGenJS</dc:creator>
  <cp:lastModifiedBy>drishti makkar</cp:lastModifiedBy>
  <cp:revision>3</cp:revision>
  <dcterms:created xsi:type="dcterms:W3CDTF">2026-03-14T09:07:38Z</dcterms:created>
  <dcterms:modified xsi:type="dcterms:W3CDTF">2026-03-14T09:37:42Z</dcterms:modified>
</cp:coreProperties>
</file>